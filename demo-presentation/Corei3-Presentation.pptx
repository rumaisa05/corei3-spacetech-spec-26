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93861A5-3B89-252A-B7CE-A541C1D214AF}">
          <p14:sldIdLst>
            <p14:sldId id="256"/>
          </p14:sldIdLst>
        </p14:section>
        <p14:section name="Architecture" id="{A0792C3B-5FF7-17A3-CFF0-060FC2AEF733}">
          <p14:sldIdLst>
            <p14:sldId id="257"/>
          </p14:sldIdLst>
        </p14:section>
        <p14:section name="Baseline" id="{BE22FA33-4B03-E3A2-F358-3F9C7D3CEBE2}">
          <p14:sldIdLst>
            <p14:sldId id="258"/>
          </p14:sldIdLst>
        </p14:section>
        <p14:section name="Detect and mask" id="{2CDFD5FC-684D-BB89-96D1-CE511966D078}">
          <p14:sldIdLst>
            <p14:sldId id="259"/>
            <p14:sldId id="260"/>
          </p14:sldIdLst>
        </p14:section>
        <p14:section name="Latch" id="{D06C69FA-8E04-EEB8-82D4-523B24F706B9}">
          <p14:sldIdLst>
            <p14:sldId id="261"/>
            <p14:sldId id="262"/>
            <p14:sldId id="263"/>
          </p14:sldIdLst>
        </p14:section>
        <p14:section name="Recover" id="{E5F2654F-5BD5-648E-1356-5325137EE9B5}">
          <p14:sldIdLst>
            <p14:sldId id="264"/>
          </p14:sldIdLst>
        </p14:section>
        <p14:section name="Verify" id="{5118306A-05A3-8111-421D-CE8B7AB279CA}">
          <p14:sldIdLst>
            <p14:sldId id="265"/>
          </p14:sldIdLst>
        </p14:section>
        <p14:section name="Takeaway" id="{29F0341F-3B5C-93DC-313C-DDB5E32A1957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714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Corei3 demonstration as a complete fault-injection, detection, and recovery path. The system uses a TMR voter and a watchdog supervisor.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architecture before the failures. Three redundant paths feed the voter; the watchdog and safety latch guard the protected output, and an external SPI controller reads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the controlled reset state. All three paths agree, both outputs are 10, and the watchdog is receiving regular heartbeat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Inject one bit error into path A. The disagreement signal detects the mismatch, while the voter selects the matching zero from paths B and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masking from repair. The output remains safe, but path A stays faulty until Clear faults removes the injected bit flip. The safety latch is a separate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the heartbeat and let the watchdog clock continue. The counter reaches 64 cycles and sets timeout_latched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timeout occurs, safe mode drives the protected output to 0. SPI remains available, allowing an external controller to read status at 0x04.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watchdog states left to right. Cyan is healthy, red marks the fault, and amber marks the latched safety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 heartbeat does not clear a latched timeout. Controlled reset clears the timer and safety latches, restores healthy paths, and returns protected output to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failure mode that TMR alone cannot solve: two paths agree on the same wrong value. An independent parity reference or external integrity alarm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separating the layers. TMR catches disagreement, the watchdog catches a stopped heartbeat, and the integrity check catches a shared wrong value. Reset restores the demo state but does not repair corrupted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separating the layers. TMR catches disagreement, the watchdog catches a stopped heartbeat, and the integrity check catches a shared wrong value. Reset restores the demo state but does not repair corrupted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7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Corei3  ·  SPEC’26 Space Tech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1"/>
          <p:cNvSpPr txBox="1"/>
          <p:nvPr/>
        </p:nvSpPr>
        <p:spPr>
          <a:xfrm>
            <a:off x="548640" y="731520"/>
            <a:ext cx="2926080" cy="292608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SPEC’26 SPACE TECH</a:t>
            </a:r>
            <a:endParaRPr lang="en-US" sz="1100" dirty="0"/>
          </a:p>
        </p:txBody>
      </p:sp>
      <p:sp>
        <p:nvSpPr>
          <p:cNvPr id="4" name="o2"/>
          <p:cNvSpPr txBox="1"/>
          <p:nvPr/>
        </p:nvSpPr>
        <p:spPr>
          <a:xfrm>
            <a:off x="548640" y="123444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Corei3:</a:t>
            </a:r>
            <a:endParaRPr lang="en-US" sz="4400" dirty="0"/>
          </a:p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Injection, Detection and Recovery</a:t>
            </a:r>
            <a:endParaRPr lang="en-US" sz="4400" dirty="0"/>
          </a:p>
        </p:txBody>
      </p:sp>
      <p:sp>
        <p:nvSpPr>
          <p:cNvPr id="5" name="o3"/>
          <p:cNvSpPr txBox="1"/>
          <p:nvPr/>
        </p:nvSpPr>
        <p:spPr>
          <a:xfrm>
            <a:off x="54864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TMR Voter and Watchdog Supervisor</a:t>
            </a:r>
            <a:endParaRPr lang="en-US" sz="1800" dirty="0"/>
          </a:p>
        </p:txBody>
      </p:sp>
      <p:sp>
        <p:nvSpPr>
          <p:cNvPr id="6" name="o4"/>
          <p:cNvSpPr txBox="1"/>
          <p:nvPr/>
        </p:nvSpPr>
        <p:spPr>
          <a:xfrm>
            <a:off x="548640" y="4114800"/>
            <a:ext cx="1463040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TMR voter</a:t>
            </a:r>
            <a:endParaRPr lang="en-US" sz="1200" dirty="0"/>
          </a:p>
        </p:txBody>
      </p:sp>
      <p:sp>
        <p:nvSpPr>
          <p:cNvPr id="7" name="o5"/>
          <p:cNvSpPr txBox="1"/>
          <p:nvPr/>
        </p:nvSpPr>
        <p:spPr>
          <a:xfrm>
            <a:off x="2148840" y="4114800"/>
            <a:ext cx="1463040" cy="329184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</a:t>
            </a:r>
            <a:endParaRPr lang="en-US" sz="1200" dirty="0"/>
          </a:p>
        </p:txBody>
      </p:sp>
      <p:sp>
        <p:nvSpPr>
          <p:cNvPr id="8" name="o6"/>
          <p:cNvSpPr txBox="1"/>
          <p:nvPr/>
        </p:nvSpPr>
        <p:spPr>
          <a:xfrm>
            <a:off x="3749040" y="4114800"/>
            <a:ext cx="1463040" cy="329184"/>
          </a:xfrm>
          <a:prstGeom prst="roundRect">
            <a:avLst>
              <a:gd name="adj" fmla="val 50000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latch</a:t>
            </a:r>
            <a:endParaRPr lang="en-US" sz="1200" dirty="0"/>
          </a:p>
        </p:txBody>
      </p:sp>
      <p:pic>
        <p:nvPicPr>
          <p:cNvPr id="9" name="o7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2468880" cy="18146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paths feed a voter, a watchdog, and a safety latch</a:t>
            </a:r>
            <a:endParaRPr lang="en-US" sz="2600" dirty="0"/>
          </a:p>
        </p:txBody>
      </p:sp>
      <p:sp>
        <p:nvSpPr>
          <p:cNvPr id="5" name="o8"/>
          <p:cNvSpPr txBox="1"/>
          <p:nvPr/>
        </p:nvSpPr>
        <p:spPr>
          <a:xfrm>
            <a:off x="457200" y="1691640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Redundant compute path</a:t>
            </a:r>
            <a:endParaRPr lang="en-US" sz="1500" dirty="0"/>
          </a:p>
        </p:txBody>
      </p:sp>
      <p:sp>
        <p:nvSpPr>
          <p:cNvPr id="6" name="o9"/>
          <p:cNvSpPr txBox="1"/>
          <p:nvPr/>
        </p:nvSpPr>
        <p:spPr>
          <a:xfrm>
            <a:off x="457200" y="2350008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B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Redundant compute path</a:t>
            </a:r>
            <a:endParaRPr lang="en-US" sz="1500" dirty="0"/>
          </a:p>
        </p:txBody>
      </p:sp>
      <p:sp>
        <p:nvSpPr>
          <p:cNvPr id="7" name="o10"/>
          <p:cNvSpPr txBox="1"/>
          <p:nvPr/>
        </p:nvSpPr>
        <p:spPr>
          <a:xfrm>
            <a:off x="457200" y="3008376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C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Redundant compute path</a:t>
            </a:r>
            <a:endParaRPr lang="en-US" sz="1500" dirty="0"/>
          </a:p>
        </p:txBody>
      </p:sp>
      <p:sp>
        <p:nvSpPr>
          <p:cNvPr id="8" name="o11"/>
          <p:cNvSpPr/>
          <p:nvPr/>
        </p:nvSpPr>
        <p:spPr>
          <a:xfrm>
            <a:off x="2560320" y="1975104"/>
            <a:ext cx="640080" cy="6583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o12"/>
          <p:cNvSpPr/>
          <p:nvPr/>
        </p:nvSpPr>
        <p:spPr>
          <a:xfrm>
            <a:off x="2560320" y="2633472"/>
            <a:ext cx="6400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o13"/>
          <p:cNvSpPr/>
          <p:nvPr/>
        </p:nvSpPr>
        <p:spPr>
          <a:xfrm flipV="1">
            <a:off x="2560320" y="2633472"/>
            <a:ext cx="640080" cy="6583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o14"/>
          <p:cNvSpPr txBox="1"/>
          <p:nvPr/>
        </p:nvSpPr>
        <p:spPr>
          <a:xfrm>
            <a:off x="3200400" y="2176272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Voter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Majority vote per bit</a:t>
            </a:r>
            <a:endParaRPr lang="en-US" sz="1500" dirty="0"/>
          </a:p>
        </p:txBody>
      </p:sp>
      <p:sp>
        <p:nvSpPr>
          <p:cNvPr id="12" name="o15"/>
          <p:cNvSpPr/>
          <p:nvPr/>
        </p:nvSpPr>
        <p:spPr>
          <a:xfrm>
            <a:off x="4937760" y="2633472"/>
            <a:ext cx="7315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o16"/>
          <p:cNvSpPr txBox="1"/>
          <p:nvPr/>
        </p:nvSpPr>
        <p:spPr>
          <a:xfrm>
            <a:off x="5669280" y="2176272"/>
            <a:ext cx="3017520" cy="914400"/>
          </a:xfrm>
          <a:prstGeom prst="roundRect">
            <a:avLst>
              <a:gd name="adj" fmla="val 10000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output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Forced to 0 in safe mode</a:t>
            </a:r>
            <a:endParaRPr lang="en-US" sz="1500" dirty="0"/>
          </a:p>
        </p:txBody>
      </p:sp>
      <p:sp>
        <p:nvSpPr>
          <p:cNvPr id="14" name="o17"/>
          <p:cNvSpPr txBox="1"/>
          <p:nvPr/>
        </p:nvSpPr>
        <p:spPr>
          <a:xfrm>
            <a:off x="457200" y="384048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2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Counts clocks since last heartbeat</a:t>
            </a:r>
            <a:endParaRPr lang="en-US" sz="1500" dirty="0"/>
          </a:p>
        </p:txBody>
      </p:sp>
      <p:sp>
        <p:nvSpPr>
          <p:cNvPr id="15" name="o18"/>
          <p:cNvSpPr txBox="1"/>
          <p:nvPr/>
        </p:nvSpPr>
        <p:spPr>
          <a:xfrm>
            <a:off x="3200400" y="3840480"/>
            <a:ext cx="2926080" cy="777240"/>
          </a:xfrm>
          <a:prstGeom prst="roundRect">
            <a:avLst>
              <a:gd name="adj" fmla="val 11765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latch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Holds safe mode until controlled reset</a:t>
            </a:r>
            <a:endParaRPr lang="en-US" sz="1500" dirty="0"/>
          </a:p>
        </p:txBody>
      </p:sp>
      <p:sp>
        <p:nvSpPr>
          <p:cNvPr id="16" name="o19"/>
          <p:cNvSpPr txBox="1"/>
          <p:nvPr/>
        </p:nvSpPr>
        <p:spPr>
          <a:xfrm>
            <a:off x="6309360" y="384048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5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 controller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Reads status at 0x04</a:t>
            </a:r>
            <a:endParaRPr lang="en-US" sz="1500" dirty="0"/>
          </a:p>
        </p:txBody>
      </p:sp>
      <p:sp>
        <p:nvSpPr>
          <p:cNvPr id="17" name="o20"/>
          <p:cNvSpPr/>
          <p:nvPr/>
        </p:nvSpPr>
        <p:spPr>
          <a:xfrm>
            <a:off x="2834640" y="4224528"/>
            <a:ext cx="36576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o21"/>
          <p:cNvSpPr/>
          <p:nvPr/>
        </p:nvSpPr>
        <p:spPr>
          <a:xfrm flipV="1">
            <a:off x="5897880" y="3090672"/>
            <a:ext cx="0" cy="7498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starting state</a:t>
            </a:r>
            <a:endParaRPr lang="en-US" sz="2600" dirty="0"/>
          </a:p>
        </p:txBody>
      </p:sp>
      <p:pic>
        <p:nvPicPr>
          <p:cNvPr id="5" name="o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365760" cy="365760"/>
          </a:xfrm>
          <a:prstGeom prst="rect">
            <a:avLst/>
          </a:prstGeom>
        </p:spPr>
      </p:pic>
      <p:sp>
        <p:nvSpPr>
          <p:cNvPr id="6" name="o23"/>
          <p:cNvSpPr txBox="1"/>
          <p:nvPr/>
        </p:nvSpPr>
        <p:spPr>
          <a:xfrm>
            <a:off x="960120" y="1673352"/>
            <a:ext cx="312724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 the mission input to </a:t>
            </a:r>
            <a:r>
              <a:rPr lang="en-US" sz="1400" b="1" dirty="0">
                <a:solidFill>
                  <a:schemeClr val="accent1"/>
                </a:solidFill>
              </a:rPr>
              <a:t>10</a:t>
            </a:r>
            <a:r>
              <a:rPr lang="en-US" sz="1400" dirty="0">
                <a:solidFill>
                  <a:schemeClr val="tx1"/>
                </a:solidFill>
              </a:rPr>
              <a:t>, then click </a:t>
            </a:r>
            <a:r>
              <a:rPr lang="en-US" sz="1400" b="1" dirty="0">
                <a:solidFill>
                  <a:schemeClr val="accent1"/>
                </a:solidFill>
              </a:rPr>
              <a:t>Controlled reset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pic>
        <p:nvPicPr>
          <p:cNvPr id="7" name="o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63216"/>
            <a:ext cx="365760" cy="365760"/>
          </a:xfrm>
          <a:prstGeom prst="rect">
            <a:avLst/>
          </a:prstGeom>
        </p:spPr>
      </p:pic>
      <p:sp>
        <p:nvSpPr>
          <p:cNvPr id="8" name="o25"/>
          <p:cNvSpPr txBox="1"/>
          <p:nvPr/>
        </p:nvSpPr>
        <p:spPr>
          <a:xfrm>
            <a:off x="960120" y="2344928"/>
            <a:ext cx="312724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Paths A, B, and C each contain </a:t>
            </a:r>
            <a:r>
              <a:rPr lang="en-US" sz="1400" b="1" dirty="0">
                <a:solidFill>
                  <a:schemeClr val="accent1"/>
                </a:solidFill>
              </a:rPr>
              <a:t>00001010 (10)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pic>
        <p:nvPicPr>
          <p:cNvPr id="9" name="o2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34792"/>
            <a:ext cx="365760" cy="365760"/>
          </a:xfrm>
          <a:prstGeom prst="rect">
            <a:avLst/>
          </a:prstGeom>
        </p:spPr>
      </p:pic>
      <p:sp>
        <p:nvSpPr>
          <p:cNvPr id="10" name="o27"/>
          <p:cNvSpPr txBox="1"/>
          <p:nvPr/>
        </p:nvSpPr>
        <p:spPr>
          <a:xfrm>
            <a:off x="960120" y="3016504"/>
            <a:ext cx="312724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Majority output and protected output both equal </a:t>
            </a:r>
            <a:r>
              <a:rPr lang="en-US" sz="1400" b="1" dirty="0">
                <a:solidFill>
                  <a:schemeClr val="accent4"/>
                </a:solidFill>
              </a:rPr>
              <a:t>10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pic>
        <p:nvPicPr>
          <p:cNvPr id="11" name="o2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06368"/>
            <a:ext cx="365760" cy="365760"/>
          </a:xfrm>
          <a:prstGeom prst="rect">
            <a:avLst/>
          </a:prstGeom>
        </p:spPr>
      </p:pic>
      <p:sp>
        <p:nvSpPr>
          <p:cNvPr id="12" name="o29"/>
          <p:cNvSpPr txBox="1"/>
          <p:nvPr/>
        </p:nvSpPr>
        <p:spPr>
          <a:xfrm>
            <a:off x="960120" y="3688080"/>
            <a:ext cx="312724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Regular heartbeat changes keep the watchdog below its </a:t>
            </a:r>
            <a:r>
              <a:rPr lang="en-US" sz="1400" b="1" dirty="0">
                <a:solidFill>
                  <a:schemeClr val="accent1"/>
                </a:solidFill>
              </a:rPr>
              <a:t>64-tick timeout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o30"/>
          <p:cNvSpPr txBox="1"/>
          <p:nvPr/>
        </p:nvSpPr>
        <p:spPr>
          <a:xfrm>
            <a:off x="4480560" y="169164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PATH A  ·  10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100" dirty="0"/>
          </a:p>
        </p:txBody>
      </p:sp>
      <p:sp>
        <p:nvSpPr>
          <p:cNvPr id="14" name="o31"/>
          <p:cNvSpPr txBox="1"/>
          <p:nvPr/>
        </p:nvSpPr>
        <p:spPr>
          <a:xfrm>
            <a:off x="4480560" y="242316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PATH B  ·  10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100" dirty="0"/>
          </a:p>
        </p:txBody>
      </p:sp>
      <p:sp>
        <p:nvSpPr>
          <p:cNvPr id="15" name="o32"/>
          <p:cNvSpPr txBox="1"/>
          <p:nvPr/>
        </p:nvSpPr>
        <p:spPr>
          <a:xfrm>
            <a:off x="4480560" y="315468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PATH C  ·  10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100" dirty="0"/>
          </a:p>
        </p:txBody>
      </p:sp>
      <p:sp>
        <p:nvSpPr>
          <p:cNvPr id="16" name="o33"/>
          <p:cNvSpPr/>
          <p:nvPr/>
        </p:nvSpPr>
        <p:spPr>
          <a:xfrm>
            <a:off x="6583680" y="2011680"/>
            <a:ext cx="365760" cy="1600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o34"/>
          <p:cNvSpPr/>
          <p:nvPr/>
        </p:nvSpPr>
        <p:spPr>
          <a:xfrm flipV="1">
            <a:off x="6583680" y="2171700"/>
            <a:ext cx="365760" cy="5715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o35"/>
          <p:cNvSpPr/>
          <p:nvPr/>
        </p:nvSpPr>
        <p:spPr>
          <a:xfrm flipV="1">
            <a:off x="6583680" y="2171700"/>
            <a:ext cx="365760" cy="13030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o36"/>
          <p:cNvSpPr txBox="1"/>
          <p:nvPr/>
        </p:nvSpPr>
        <p:spPr>
          <a:xfrm>
            <a:off x="6949440" y="1691640"/>
            <a:ext cx="173736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MAJORITY</a:t>
            </a:r>
            <a:endParaRPr lang="en-US" sz="1100" dirty="0"/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o37"/>
          <p:cNvSpPr/>
          <p:nvPr/>
        </p:nvSpPr>
        <p:spPr>
          <a:xfrm>
            <a:off x="7818120" y="2651760"/>
            <a:ext cx="0" cy="2286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o38"/>
          <p:cNvSpPr txBox="1"/>
          <p:nvPr/>
        </p:nvSpPr>
        <p:spPr>
          <a:xfrm>
            <a:off x="6949440" y="2880360"/>
            <a:ext cx="173736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PROTECTED</a:t>
            </a:r>
            <a:endParaRPr lang="en-US" sz="1100" dirty="0"/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o39"/>
          <p:cNvSpPr txBox="1"/>
          <p:nvPr/>
        </p:nvSpPr>
        <p:spPr>
          <a:xfrm>
            <a:off x="4480560" y="4023360"/>
            <a:ext cx="4206240" cy="594360"/>
          </a:xfrm>
          <a:prstGeom prst="roundRect">
            <a:avLst>
              <a:gd name="adj" fmla="val 15385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2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WATCHDOG  </a:t>
            </a:r>
            <a:r>
              <a:rPr lang="en-US" sz="1300" dirty="0">
                <a:solidFill>
                  <a:schemeClr val="tx1"/>
                </a:solidFill>
              </a:rPr>
              <a:t>heartbeat toggling · counter stays below 64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TMR fault injection is detected and masked</a:t>
            </a:r>
            <a:endParaRPr lang="en-US" sz="2600" dirty="0"/>
          </a:p>
        </p:txBody>
      </p:sp>
      <p:sp>
        <p:nvSpPr>
          <p:cNvPr id="5" name="o40"/>
          <p:cNvSpPr txBox="1"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o41"/>
          <p:cNvSpPr txBox="1"/>
          <p:nvPr/>
        </p:nvSpPr>
        <p:spPr>
          <a:xfrm>
            <a:off x="960120" y="1673352"/>
            <a:ext cx="340156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Flip </a:t>
            </a:r>
            <a:r>
              <a:rPr lang="en-US" sz="1400" b="1" dirty="0">
                <a:solidFill>
                  <a:schemeClr val="accent3"/>
                </a:solidFill>
              </a:rPr>
              <a:t>bit 0</a:t>
            </a:r>
            <a:r>
              <a:rPr lang="en-US" sz="1400" dirty="0">
                <a:solidFill>
                  <a:schemeClr val="tx1"/>
                </a:solidFill>
              </a:rPr>
              <a:t> of path A. A becomes </a:t>
            </a:r>
            <a:r>
              <a:rPr lang="en-US" sz="1400" b="1" dirty="0">
                <a:solidFill>
                  <a:schemeClr val="accent3"/>
                </a:solidFill>
              </a:rPr>
              <a:t>00001011 (11)</a:t>
            </a:r>
            <a:r>
              <a:rPr lang="en-US" sz="1400" dirty="0">
                <a:solidFill>
                  <a:schemeClr val="tx1"/>
                </a:solidFill>
              </a:rPr>
              <a:t>; B and C remain </a:t>
            </a:r>
            <a:r>
              <a:rPr lang="en-US" sz="1400" b="1" dirty="0">
                <a:solidFill>
                  <a:schemeClr val="accent1"/>
                </a:solidFill>
              </a:rPr>
              <a:t>00001010 (10)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o42"/>
          <p:cNvSpPr txBox="1"/>
          <p:nvPr/>
        </p:nvSpPr>
        <p:spPr>
          <a:xfrm>
            <a:off x="457200" y="2381504"/>
            <a:ext cx="365760" cy="3657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o43"/>
          <p:cNvSpPr txBox="1"/>
          <p:nvPr/>
        </p:nvSpPr>
        <p:spPr>
          <a:xfrm>
            <a:off x="960120" y="2363216"/>
            <a:ext cx="340156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disagreement signal reports that the paths differ.</a:t>
            </a:r>
            <a:endParaRPr lang="en-US" sz="1400" dirty="0"/>
          </a:p>
        </p:txBody>
      </p:sp>
      <p:sp>
        <p:nvSpPr>
          <p:cNvPr id="9" name="o44"/>
          <p:cNvSpPr txBox="1"/>
          <p:nvPr/>
        </p:nvSpPr>
        <p:spPr>
          <a:xfrm>
            <a:off x="457200" y="3071368"/>
            <a:ext cx="365760" cy="3657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o45"/>
          <p:cNvSpPr txBox="1"/>
          <p:nvPr/>
        </p:nvSpPr>
        <p:spPr>
          <a:xfrm>
            <a:off x="960120" y="3053080"/>
            <a:ext cx="340156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 bit 0, the voter compares </a:t>
            </a:r>
            <a:r>
              <a:rPr lang="en-US" sz="1400" b="1" dirty="0">
                <a:solidFill>
                  <a:schemeClr val="accent1"/>
                </a:solidFill>
              </a:rPr>
              <a:t>1, 0, 0</a:t>
            </a:r>
            <a:r>
              <a:rPr lang="en-US" sz="1400" dirty="0">
                <a:solidFill>
                  <a:schemeClr val="tx1"/>
                </a:solidFill>
              </a:rPr>
              <a:t> and selects </a:t>
            </a:r>
            <a:r>
              <a:rPr lang="en-US" sz="1400" b="1" dirty="0">
                <a:solidFill>
                  <a:schemeClr val="accent4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o46"/>
          <p:cNvSpPr txBox="1"/>
          <p:nvPr/>
        </p:nvSpPr>
        <p:spPr>
          <a:xfrm>
            <a:off x="457200" y="3761232"/>
            <a:ext cx="365760" cy="3657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o47"/>
          <p:cNvSpPr txBox="1"/>
          <p:nvPr/>
        </p:nvSpPr>
        <p:spPr>
          <a:xfrm>
            <a:off x="960120" y="374294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voted output remains </a:t>
            </a:r>
            <a:r>
              <a:rPr lang="en-US" sz="1400" b="1" dirty="0">
                <a:solidFill>
                  <a:schemeClr val="accent4"/>
                </a:solidFill>
              </a:rPr>
              <a:t>00001010 (10)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o48"/>
          <p:cNvSpPr txBox="1"/>
          <p:nvPr/>
        </p:nvSpPr>
        <p:spPr>
          <a:xfrm>
            <a:off x="4709160" y="1691640"/>
            <a:ext cx="2148840" cy="658368"/>
          </a:xfrm>
          <a:prstGeom prst="roundRect">
            <a:avLst>
              <a:gd name="adj" fmla="val 1388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PATH A  ·  11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</a:t>
            </a:r>
            <a:r>
              <a:rPr lang="en-US" sz="2000" b="1" kern="0" spc="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o49"/>
          <p:cNvSpPr txBox="1"/>
          <p:nvPr/>
        </p:nvSpPr>
        <p:spPr>
          <a:xfrm>
            <a:off x="4709160" y="2423160"/>
            <a:ext cx="2148840" cy="658368"/>
          </a:xfrm>
          <a:prstGeom prst="roundRect">
            <a:avLst>
              <a:gd name="adj" fmla="val 1388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PATH B  ·  10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100" dirty="0"/>
          </a:p>
        </p:txBody>
      </p:sp>
      <p:sp>
        <p:nvSpPr>
          <p:cNvPr id="15" name="o50"/>
          <p:cNvSpPr txBox="1"/>
          <p:nvPr/>
        </p:nvSpPr>
        <p:spPr>
          <a:xfrm>
            <a:off x="4709160" y="3154680"/>
            <a:ext cx="2148840" cy="658368"/>
          </a:xfrm>
          <a:prstGeom prst="roundRect">
            <a:avLst>
              <a:gd name="adj" fmla="val 1388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PATH C  ·  10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100" dirty="0"/>
          </a:p>
        </p:txBody>
      </p:sp>
      <p:sp>
        <p:nvSpPr>
          <p:cNvPr id="16" name="o51"/>
          <p:cNvSpPr txBox="1"/>
          <p:nvPr/>
        </p:nvSpPr>
        <p:spPr>
          <a:xfrm>
            <a:off x="4709160" y="384048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paths differ</a:t>
            </a:r>
            <a:endParaRPr lang="en-US" sz="1100" dirty="0"/>
          </a:p>
        </p:txBody>
      </p:sp>
      <p:sp>
        <p:nvSpPr>
          <p:cNvPr id="17" name="o52"/>
          <p:cNvSpPr/>
          <p:nvPr/>
        </p:nvSpPr>
        <p:spPr>
          <a:xfrm>
            <a:off x="6858000" y="2020824"/>
            <a:ext cx="3200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o53"/>
          <p:cNvSpPr/>
          <p:nvPr/>
        </p:nvSpPr>
        <p:spPr>
          <a:xfrm>
            <a:off x="6858000" y="2752344"/>
            <a:ext cx="3200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o54"/>
          <p:cNvSpPr/>
          <p:nvPr/>
        </p:nvSpPr>
        <p:spPr>
          <a:xfrm>
            <a:off x="6858000" y="3483864"/>
            <a:ext cx="3200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o55"/>
          <p:cNvSpPr txBox="1"/>
          <p:nvPr/>
        </p:nvSpPr>
        <p:spPr>
          <a:xfrm>
            <a:off x="7178040" y="1691640"/>
            <a:ext cx="1508760" cy="2121408"/>
          </a:xfrm>
          <a:prstGeom prst="roundRect">
            <a:avLst>
              <a:gd name="adj" fmla="val 6061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VOTER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bit 0</a:t>
            </a:r>
            <a:endParaRPr lang="en-US" sz="1100" dirty="0"/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0 · 0</a:t>
            </a:r>
            <a:endParaRPr lang="en-US" sz="11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selects 0</a:t>
            </a:r>
            <a:endParaRPr lang="en-US" sz="1100" dirty="0"/>
          </a:p>
        </p:txBody>
      </p:sp>
      <p:sp>
        <p:nvSpPr>
          <p:cNvPr id="21" name="o56"/>
          <p:cNvSpPr/>
          <p:nvPr/>
        </p:nvSpPr>
        <p:spPr>
          <a:xfrm>
            <a:off x="7932420" y="3813048"/>
            <a:ext cx="0" cy="22860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o57"/>
          <p:cNvSpPr txBox="1"/>
          <p:nvPr/>
        </p:nvSpPr>
        <p:spPr>
          <a:xfrm>
            <a:off x="4709160" y="4041648"/>
            <a:ext cx="3977640" cy="640080"/>
          </a:xfrm>
          <a:prstGeom prst="roundRect">
            <a:avLst>
              <a:gd name="adj" fmla="val 14286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4"/>
                </a:solidFill>
              </a:rPr>
              <a:t>VOTED OUTPUT  ·  FAULT MASKED</a:t>
            </a:r>
            <a:endParaRPr lang="en-US" sz="1100" dirty="0"/>
          </a:p>
          <a:p>
            <a:pPr marL="0" indent="0" algn="l">
              <a:buNone/>
            </a:pPr>
            <a:r>
              <a:rPr lang="en-US" sz="18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r>
              <a:rPr lang="en-US" sz="1300" dirty="0">
                <a:solidFill>
                  <a:schemeClr val="tx2"/>
                </a:solidFill>
              </a:rPr>
              <a:t>   (10)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keeps output safe, but does not repair path A</a:t>
            </a:r>
            <a:endParaRPr lang="en-US" sz="2600" dirty="0"/>
          </a:p>
        </p:txBody>
      </p:sp>
      <p:pic>
        <p:nvPicPr>
          <p:cNvPr id="5" name="o5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365760" cy="365760"/>
          </a:xfrm>
          <a:prstGeom prst="rect">
            <a:avLst/>
          </a:prstGeom>
        </p:spPr>
      </p:pic>
      <p:sp>
        <p:nvSpPr>
          <p:cNvPr id="6" name="o59"/>
          <p:cNvSpPr txBox="1"/>
          <p:nvPr/>
        </p:nvSpPr>
        <p:spPr>
          <a:xfrm>
            <a:off x="960120" y="1673352"/>
            <a:ext cx="349300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voter keeps the output correct while A still contains the faulty bit.</a:t>
            </a:r>
            <a:endParaRPr lang="en-US" sz="1400" dirty="0"/>
          </a:p>
        </p:txBody>
      </p:sp>
      <p:pic>
        <p:nvPicPr>
          <p:cNvPr id="7" name="o6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63216"/>
            <a:ext cx="365760" cy="365760"/>
          </a:xfrm>
          <a:prstGeom prst="rect">
            <a:avLst/>
          </a:prstGeom>
        </p:spPr>
      </p:pic>
      <p:sp>
        <p:nvSpPr>
          <p:cNvPr id="8" name="o61"/>
          <p:cNvSpPr txBox="1"/>
          <p:nvPr/>
        </p:nvSpPr>
        <p:spPr>
          <a:xfrm>
            <a:off x="960120" y="234492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Masking does not repair path A.</a:t>
            </a:r>
            <a:endParaRPr lang="en-US" sz="1400" dirty="0"/>
          </a:p>
        </p:txBody>
      </p:sp>
      <p:pic>
        <p:nvPicPr>
          <p:cNvPr id="9" name="o6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11856"/>
            <a:ext cx="365760" cy="365760"/>
          </a:xfrm>
          <a:prstGeom prst="rect">
            <a:avLst/>
          </a:prstGeom>
        </p:spPr>
      </p:pic>
      <p:sp>
        <p:nvSpPr>
          <p:cNvPr id="10" name="o63"/>
          <p:cNvSpPr txBox="1"/>
          <p:nvPr/>
        </p:nvSpPr>
        <p:spPr>
          <a:xfrm>
            <a:off x="960120" y="2893568"/>
            <a:ext cx="3493008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Clicking </a:t>
            </a:r>
            <a:r>
              <a:rPr lang="en-US" sz="1400" b="1" dirty="0">
                <a:solidFill>
                  <a:schemeClr val="accent1"/>
                </a:solidFill>
              </a:rPr>
              <a:t>Clear faults</a:t>
            </a:r>
            <a:r>
              <a:rPr lang="en-US" sz="1400" dirty="0">
                <a:solidFill>
                  <a:schemeClr val="tx1"/>
                </a:solidFill>
              </a:rPr>
              <a:t> removes the injected bit flip. All three paths return to </a:t>
            </a:r>
            <a:r>
              <a:rPr lang="en-US" sz="1400" b="1" dirty="0">
                <a:solidFill>
                  <a:schemeClr val="accent1"/>
                </a:solidFill>
              </a:rPr>
              <a:t>00001010 (10)</a:t>
            </a:r>
            <a:r>
              <a:rPr lang="en-US" sz="1400" dirty="0">
                <a:solidFill>
                  <a:schemeClr val="tx1"/>
                </a:solidFill>
              </a:rPr>
              <a:t>, and disagreement clears.</a:t>
            </a:r>
            <a:endParaRPr lang="en-US" sz="1400" dirty="0"/>
          </a:p>
        </p:txBody>
      </p:sp>
      <p:pic>
        <p:nvPicPr>
          <p:cNvPr id="11" name="o6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00348"/>
            <a:ext cx="365760" cy="365760"/>
          </a:xfrm>
          <a:prstGeom prst="rect">
            <a:avLst/>
          </a:prstGeom>
        </p:spPr>
      </p:pic>
      <p:sp>
        <p:nvSpPr>
          <p:cNvPr id="12" name="o65"/>
          <p:cNvSpPr txBox="1"/>
          <p:nvPr/>
        </p:nvSpPr>
        <p:spPr>
          <a:xfrm>
            <a:off x="960120" y="3782060"/>
            <a:ext cx="349300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Clear faults does not clear an existing safety latch.</a:t>
            </a:r>
            <a:endParaRPr lang="en-US" sz="1400" dirty="0"/>
          </a:p>
        </p:txBody>
      </p:sp>
      <p:sp>
        <p:nvSpPr>
          <p:cNvPr id="13" name="o66"/>
          <p:cNvSpPr txBox="1"/>
          <p:nvPr/>
        </p:nvSpPr>
        <p:spPr>
          <a:xfrm>
            <a:off x="4937760" y="1691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BEFORE</a:t>
            </a:r>
            <a:endParaRPr lang="en-US" sz="1100" dirty="0"/>
          </a:p>
        </p:txBody>
      </p:sp>
      <p:sp>
        <p:nvSpPr>
          <p:cNvPr id="14" name="o67"/>
          <p:cNvSpPr txBox="1"/>
          <p:nvPr/>
        </p:nvSpPr>
        <p:spPr>
          <a:xfrm>
            <a:off x="4937760" y="1920240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PATH A  ·  11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</a:t>
            </a:r>
            <a:r>
              <a:rPr lang="en-US" sz="2000" b="1" kern="0" spc="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o68"/>
          <p:cNvSpPr txBox="1"/>
          <p:nvPr/>
        </p:nvSpPr>
        <p:spPr>
          <a:xfrm>
            <a:off x="7360920" y="1920240"/>
            <a:ext cx="1325880" cy="658368"/>
          </a:xfrm>
          <a:prstGeom prst="roundRect">
            <a:avLst>
              <a:gd name="adj" fmla="val 1388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o69"/>
          <p:cNvSpPr txBox="1"/>
          <p:nvPr/>
        </p:nvSpPr>
        <p:spPr>
          <a:xfrm>
            <a:off x="5669280" y="2788920"/>
            <a:ext cx="182880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faults</a:t>
            </a:r>
            <a:endParaRPr lang="en-US" sz="1200" dirty="0"/>
          </a:p>
        </p:txBody>
      </p:sp>
      <p:sp>
        <p:nvSpPr>
          <p:cNvPr id="17" name="o70"/>
          <p:cNvSpPr/>
          <p:nvPr/>
        </p:nvSpPr>
        <p:spPr>
          <a:xfrm>
            <a:off x="6583680" y="2606040"/>
            <a:ext cx="0" cy="1828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o71"/>
          <p:cNvSpPr/>
          <p:nvPr/>
        </p:nvSpPr>
        <p:spPr>
          <a:xfrm>
            <a:off x="6583680" y="3154680"/>
            <a:ext cx="0" cy="2286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o72"/>
          <p:cNvSpPr txBox="1"/>
          <p:nvPr/>
        </p:nvSpPr>
        <p:spPr>
          <a:xfrm>
            <a:off x="4937760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AFTER</a:t>
            </a:r>
            <a:endParaRPr lang="en-US" sz="1100" dirty="0"/>
          </a:p>
        </p:txBody>
      </p:sp>
      <p:sp>
        <p:nvSpPr>
          <p:cNvPr id="20" name="o73"/>
          <p:cNvSpPr txBox="1"/>
          <p:nvPr/>
        </p:nvSpPr>
        <p:spPr>
          <a:xfrm>
            <a:off x="4937760" y="3630168"/>
            <a:ext cx="2286000" cy="658368"/>
          </a:xfrm>
          <a:prstGeom prst="roundRect">
            <a:avLst>
              <a:gd name="adj" fmla="val 1388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PATH A  ·  10</a:t>
            </a:r>
            <a:endParaRPr lang="en-US" sz="1100" dirty="0"/>
          </a:p>
          <a:p>
            <a:pPr marL="0" indent="0" algn="l">
              <a:buNone/>
            </a:pPr>
            <a:r>
              <a:rPr lang="en-US" sz="20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100" dirty="0"/>
          </a:p>
        </p:txBody>
      </p:sp>
      <p:sp>
        <p:nvSpPr>
          <p:cNvPr id="21" name="o74"/>
          <p:cNvSpPr txBox="1"/>
          <p:nvPr/>
        </p:nvSpPr>
        <p:spPr>
          <a:xfrm>
            <a:off x="7360920" y="3630168"/>
            <a:ext cx="1325880" cy="658368"/>
          </a:xfrm>
          <a:prstGeom prst="roundRect">
            <a:avLst>
              <a:gd name="adj" fmla="val 13889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4"/>
                </a:solidFill>
              </a:rPr>
              <a:t>DISAGREE</a:t>
            </a:r>
            <a:endParaRPr lang="en-US" sz="11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100" dirty="0"/>
          </a:p>
        </p:txBody>
      </p:sp>
      <p:sp>
        <p:nvSpPr>
          <p:cNvPr id="22" name="o75"/>
          <p:cNvSpPr txBox="1"/>
          <p:nvPr/>
        </p:nvSpPr>
        <p:spPr>
          <a:xfrm>
            <a:off x="4937760" y="4370832"/>
            <a:ext cx="3749040" cy="274320"/>
          </a:xfrm>
          <a:prstGeom prst="roundRect">
            <a:avLst>
              <a:gd name="adj" fmla="val 5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Safety latch is unchanged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LATCH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watchdog times out when heartbeat stops</a:t>
            </a:r>
            <a:endParaRPr lang="en-US" sz="2600" dirty="0"/>
          </a:p>
        </p:txBody>
      </p:sp>
      <p:pic>
        <p:nvPicPr>
          <p:cNvPr id="5" name="o7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365760" cy="365760"/>
          </a:xfrm>
          <a:prstGeom prst="rect">
            <a:avLst/>
          </a:prstGeom>
        </p:spPr>
      </p:pic>
      <p:sp>
        <p:nvSpPr>
          <p:cNvPr id="6" name="o77"/>
          <p:cNvSpPr txBox="1"/>
          <p:nvPr/>
        </p:nvSpPr>
        <p:spPr>
          <a:xfrm>
            <a:off x="960120" y="1673352"/>
            <a:ext cx="363016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Click </a:t>
            </a:r>
            <a:r>
              <a:rPr lang="en-US" sz="1400" b="1" dirty="0">
                <a:solidFill>
                  <a:schemeClr val="accent3"/>
                </a:solidFill>
              </a:rPr>
              <a:t>Stop heartbeat</a:t>
            </a:r>
            <a:r>
              <a:rPr lang="en-US" sz="1400" dirty="0">
                <a:solidFill>
                  <a:schemeClr val="tx1"/>
                </a:solidFill>
              </a:rPr>
              <a:t> to simulate a processor hang.</a:t>
            </a:r>
            <a:endParaRPr lang="en-US" sz="1400" dirty="0"/>
          </a:p>
        </p:txBody>
      </p:sp>
      <p:pic>
        <p:nvPicPr>
          <p:cNvPr id="7" name="o7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44928"/>
            <a:ext cx="365760" cy="365760"/>
          </a:xfrm>
          <a:prstGeom prst="rect">
            <a:avLst/>
          </a:prstGeom>
        </p:spPr>
      </p:pic>
      <p:sp>
        <p:nvSpPr>
          <p:cNvPr id="8" name="o79"/>
          <p:cNvSpPr txBox="1"/>
          <p:nvPr/>
        </p:nvSpPr>
        <p:spPr>
          <a:xfrm>
            <a:off x="960120" y="2326640"/>
            <a:ext cx="3630168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watchdog clock continues running; </a:t>
            </a:r>
            <a:r>
              <a:rPr lang="en-US" sz="1400" b="1" dirty="0">
                <a:solidFill>
                  <a:schemeClr val="accent1"/>
                </a:solidFill>
              </a:rPr>
              <a:t>elapsed</a:t>
            </a:r>
            <a:r>
              <a:rPr lang="en-US" sz="1400" dirty="0">
                <a:solidFill>
                  <a:schemeClr val="tx1"/>
                </a:solidFill>
              </a:rPr>
              <a:t> counts clock cycles since the last detected heartbeat change.</a:t>
            </a:r>
            <a:endParaRPr lang="en-US" sz="1400" dirty="0"/>
          </a:p>
        </p:txBody>
      </p:sp>
      <p:pic>
        <p:nvPicPr>
          <p:cNvPr id="9" name="o8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15132"/>
            <a:ext cx="365760" cy="365760"/>
          </a:xfrm>
          <a:prstGeom prst="rect">
            <a:avLst/>
          </a:prstGeom>
        </p:spPr>
      </p:pic>
      <p:sp>
        <p:nvSpPr>
          <p:cNvPr id="10" name="o81"/>
          <p:cNvSpPr txBox="1"/>
          <p:nvPr/>
        </p:nvSpPr>
        <p:spPr>
          <a:xfrm>
            <a:off x="960120" y="3196844"/>
            <a:ext cx="3630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new heartbeat resets the counter to </a:t>
            </a:r>
            <a:r>
              <a:rPr lang="en-US" sz="1400" b="1" dirty="0">
                <a:solidFill>
                  <a:schemeClr val="accent4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pic>
        <p:nvPicPr>
          <p:cNvPr id="11" name="o8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45484"/>
            <a:ext cx="365760" cy="365760"/>
          </a:xfrm>
          <a:prstGeom prst="rect">
            <a:avLst/>
          </a:prstGeom>
        </p:spPr>
      </p:pic>
      <p:sp>
        <p:nvSpPr>
          <p:cNvPr id="12" name="o83"/>
          <p:cNvSpPr txBox="1"/>
          <p:nvPr/>
        </p:nvSpPr>
        <p:spPr>
          <a:xfrm>
            <a:off x="960120" y="3727196"/>
            <a:ext cx="363016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a heartbeat, elapsed reaches </a:t>
            </a:r>
            <a:r>
              <a:rPr lang="en-US" sz="1400" b="1" dirty="0">
                <a:solidFill>
                  <a:schemeClr val="accent3"/>
                </a:solidFill>
              </a:rPr>
              <a:t>64</a:t>
            </a:r>
            <a:r>
              <a:rPr lang="en-US" sz="1400" dirty="0">
                <a:solidFill>
                  <a:schemeClr val="tx1"/>
                </a:solidFill>
              </a:rPr>
              <a:t> and sets </a:t>
            </a:r>
            <a:r>
              <a:rPr lang="en-US" sz="1400" b="1" dirty="0">
                <a:solidFill>
                  <a:schemeClr val="accent3"/>
                </a:solidFill>
              </a:rPr>
              <a:t>timeout_latched = 1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o84"/>
          <p:cNvSpPr/>
          <p:nvPr/>
        </p:nvSpPr>
        <p:spPr>
          <a:xfrm>
            <a:off x="4937760" y="1691640"/>
            <a:ext cx="3749040" cy="2926080"/>
          </a:xfrm>
          <a:prstGeom prst="roundRect">
            <a:avLst>
              <a:gd name="adj" fmla="val 3125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o85" descr="/home/claude/build/hear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691640"/>
            <a:ext cx="3749040" cy="1216152"/>
          </a:xfrm>
          <a:prstGeom prst="rect">
            <a:avLst/>
          </a:prstGeom>
        </p:spPr>
      </p:pic>
      <p:sp>
        <p:nvSpPr>
          <p:cNvPr id="15" name="o86"/>
          <p:cNvSpPr txBox="1"/>
          <p:nvPr/>
        </p:nvSpPr>
        <p:spPr>
          <a:xfrm>
            <a:off x="5166360" y="3017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WATCHDOG COUNTER</a:t>
            </a:r>
            <a:endParaRPr lang="en-US" sz="1100" dirty="0"/>
          </a:p>
        </p:txBody>
      </p:sp>
      <p:sp>
        <p:nvSpPr>
          <p:cNvPr id="16" name="o87"/>
          <p:cNvSpPr txBox="1"/>
          <p:nvPr/>
        </p:nvSpPr>
        <p:spPr>
          <a:xfrm>
            <a:off x="5166360" y="3246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r>
              <a:rPr lang="en-US" sz="1400" dirty="0">
                <a:solidFill>
                  <a:schemeClr val="tx2"/>
                </a:solidFill>
              </a:rPr>
              <a:t>  / 64 ticks</a:t>
            </a:r>
            <a:endParaRPr lang="en-US" sz="4000" dirty="0"/>
          </a:p>
        </p:txBody>
      </p:sp>
      <p:sp>
        <p:nvSpPr>
          <p:cNvPr id="17" name="o88"/>
          <p:cNvSpPr/>
          <p:nvPr/>
        </p:nvSpPr>
        <p:spPr>
          <a:xfrm>
            <a:off x="5166360" y="3977640"/>
            <a:ext cx="3291840" cy="182880"/>
          </a:xfrm>
          <a:prstGeom prst="roundRect">
            <a:avLst>
              <a:gd name="adj" fmla="val 50000"/>
            </a:avLst>
          </a:prstGeom>
          <a:solidFill>
            <a:schemeClr val="tx2">
              <a:alpha val="25000"/>
            </a:schemeClr>
          </a:solidFill>
          <a:ln/>
        </p:spPr>
      </p:sp>
      <p:sp>
        <p:nvSpPr>
          <p:cNvPr id="18" name="o89"/>
          <p:cNvSpPr/>
          <p:nvPr/>
        </p:nvSpPr>
        <p:spPr>
          <a:xfrm>
            <a:off x="5166360" y="3977640"/>
            <a:ext cx="3291840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9" name="o90"/>
          <p:cNvSpPr txBox="1"/>
          <p:nvPr/>
        </p:nvSpPr>
        <p:spPr>
          <a:xfrm>
            <a:off x="5166360" y="42793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2, 3 … 64: TIMEOUT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LATCH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mode protects the output while SPI stays available</a:t>
            </a:r>
            <a:endParaRPr lang="en-US" sz="2600" dirty="0"/>
          </a:p>
        </p:txBody>
      </p:sp>
      <p:pic>
        <p:nvPicPr>
          <p:cNvPr id="5" name="o9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365760" cy="365760"/>
          </a:xfrm>
          <a:prstGeom prst="rect">
            <a:avLst/>
          </a:prstGeom>
        </p:spPr>
      </p:pic>
      <p:sp>
        <p:nvSpPr>
          <p:cNvPr id="6" name="o92"/>
          <p:cNvSpPr txBox="1"/>
          <p:nvPr/>
        </p:nvSpPr>
        <p:spPr>
          <a:xfrm>
            <a:off x="960120" y="1673352"/>
            <a:ext cx="3630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Timeout activates safe mode.</a:t>
            </a:r>
            <a:endParaRPr lang="en-US" sz="1400" dirty="0"/>
          </a:p>
        </p:txBody>
      </p:sp>
      <p:pic>
        <p:nvPicPr>
          <p:cNvPr id="7" name="o9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85416"/>
            <a:ext cx="365760" cy="365760"/>
          </a:xfrm>
          <a:prstGeom prst="rect">
            <a:avLst/>
          </a:prstGeom>
        </p:spPr>
      </p:pic>
      <p:sp>
        <p:nvSpPr>
          <p:cNvPr id="8" name="o94"/>
          <p:cNvSpPr txBox="1"/>
          <p:nvPr/>
        </p:nvSpPr>
        <p:spPr>
          <a:xfrm>
            <a:off x="960120" y="2167128"/>
            <a:ext cx="363016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Protected output becomes </a:t>
            </a:r>
            <a:r>
              <a:rPr lang="en-US" sz="1400" b="1" dirty="0">
                <a:solidFill>
                  <a:schemeClr val="accent3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, while the raw TMR vote can remain </a:t>
            </a:r>
            <a:r>
              <a:rPr lang="en-US" sz="1400" b="1" dirty="0">
                <a:solidFill>
                  <a:schemeClr val="accent1"/>
                </a:solidFill>
              </a:rPr>
              <a:t>10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pic>
        <p:nvPicPr>
          <p:cNvPr id="9" name="o9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02128"/>
            <a:ext cx="365760" cy="365760"/>
          </a:xfrm>
          <a:prstGeom prst="rect">
            <a:avLst/>
          </a:prstGeom>
        </p:spPr>
      </p:pic>
      <p:sp>
        <p:nvSpPr>
          <p:cNvPr id="10" name="o96"/>
          <p:cNvSpPr txBox="1"/>
          <p:nvPr/>
        </p:nvSpPr>
        <p:spPr>
          <a:xfrm>
            <a:off x="960120" y="2783840"/>
            <a:ext cx="3630168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SPI</a:t>
            </a:r>
            <a:r>
              <a:rPr lang="en-US" sz="1400" dirty="0">
                <a:solidFill>
                  <a:schemeClr val="tx1"/>
                </a:solidFill>
              </a:rPr>
              <a:t> means Serial Peripheral Interface; an external controller can read system status through SPI.</a:t>
            </a:r>
            <a:endParaRPr lang="en-US" sz="1400" dirty="0"/>
          </a:p>
        </p:txBody>
      </p:sp>
      <p:pic>
        <p:nvPicPr>
          <p:cNvPr id="11" name="o9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35756"/>
            <a:ext cx="365760" cy="365760"/>
          </a:xfrm>
          <a:prstGeom prst="rect">
            <a:avLst/>
          </a:prstGeom>
        </p:spPr>
      </p:pic>
      <p:sp>
        <p:nvSpPr>
          <p:cNvPr id="12" name="o98"/>
          <p:cNvSpPr txBox="1"/>
          <p:nvPr/>
        </p:nvSpPr>
        <p:spPr>
          <a:xfrm>
            <a:off x="960120" y="3617468"/>
            <a:ext cx="363016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timeout-only STATUS read at </a:t>
            </a:r>
            <a:r>
              <a:rPr lang="en-US" sz="1400" b="1" dirty="0">
                <a:solidFill>
                  <a:schemeClr val="accent1"/>
                </a:solidFill>
              </a:rPr>
              <a:t>0x04</a:t>
            </a:r>
            <a:r>
              <a:rPr lang="en-US" sz="1400" dirty="0">
                <a:solidFill>
                  <a:schemeClr val="tx1"/>
                </a:solidFill>
              </a:rPr>
              <a:t> returns </a:t>
            </a:r>
            <a:r>
              <a:rPr lang="en-US" sz="1400" b="1" dirty="0">
                <a:solidFill>
                  <a:schemeClr val="accent1"/>
                </a:solidFill>
              </a:rPr>
              <a:t>0x00000003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pic>
        <p:nvPicPr>
          <p:cNvPr id="13" name="o9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52468"/>
            <a:ext cx="365760" cy="365760"/>
          </a:xfrm>
          <a:prstGeom prst="rect">
            <a:avLst/>
          </a:prstGeom>
        </p:spPr>
      </p:pic>
      <p:sp>
        <p:nvSpPr>
          <p:cNvPr id="14" name="o100"/>
          <p:cNvSpPr txBox="1"/>
          <p:nvPr/>
        </p:nvSpPr>
        <p:spPr>
          <a:xfrm>
            <a:off x="960120" y="4234180"/>
            <a:ext cx="363016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SPI remains accessible during the simulated processor hang.</a:t>
            </a:r>
            <a:endParaRPr lang="en-US" sz="1400" dirty="0"/>
          </a:p>
        </p:txBody>
      </p:sp>
      <p:sp>
        <p:nvSpPr>
          <p:cNvPr id="15" name="o101"/>
          <p:cNvSpPr/>
          <p:nvPr/>
        </p:nvSpPr>
        <p:spPr>
          <a:xfrm>
            <a:off x="4937760" y="1691640"/>
            <a:ext cx="3749040" cy="2926080"/>
          </a:xfrm>
          <a:prstGeom prst="roundRect">
            <a:avLst>
              <a:gd name="adj" fmla="val 3125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o102"/>
          <p:cNvSpPr txBox="1"/>
          <p:nvPr/>
        </p:nvSpPr>
        <p:spPr>
          <a:xfrm>
            <a:off x="5166360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5"/>
                </a:solidFill>
              </a:rPr>
              <a:t>SPI STATUS READ  ·  ADDRESS 0x04</a:t>
            </a:r>
            <a:endParaRPr lang="en-US" sz="1100" dirty="0"/>
          </a:p>
        </p:txBody>
      </p:sp>
      <p:sp>
        <p:nvSpPr>
          <p:cNvPr id="17" name="o103"/>
          <p:cNvSpPr txBox="1"/>
          <p:nvPr/>
        </p:nvSpPr>
        <p:spPr>
          <a:xfrm>
            <a:off x="516636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0x00000003</a:t>
            </a:r>
            <a:endParaRPr lang="en-US" sz="3200" dirty="0"/>
          </a:p>
        </p:txBody>
      </p:sp>
      <p:sp>
        <p:nvSpPr>
          <p:cNvPr id="18" name="o104"/>
          <p:cNvSpPr txBox="1"/>
          <p:nvPr/>
        </p:nvSpPr>
        <p:spPr>
          <a:xfrm>
            <a:off x="5166360" y="2788920"/>
            <a:ext cx="1600200" cy="566928"/>
          </a:xfrm>
          <a:prstGeom prst="roundRect">
            <a:avLst>
              <a:gd name="adj" fmla="val 12903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BIT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Safe mode = 1</a:t>
            </a:r>
            <a:endParaRPr lang="en-US" sz="1200" dirty="0"/>
          </a:p>
        </p:txBody>
      </p:sp>
      <p:sp>
        <p:nvSpPr>
          <p:cNvPr id="19" name="o105"/>
          <p:cNvSpPr txBox="1"/>
          <p:nvPr/>
        </p:nvSpPr>
        <p:spPr>
          <a:xfrm>
            <a:off x="6858000" y="2788920"/>
            <a:ext cx="1600200" cy="566928"/>
          </a:xfrm>
          <a:prstGeom prst="roundRect">
            <a:avLst>
              <a:gd name="adj" fmla="val 12903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BIT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Timeout latched = 1</a:t>
            </a:r>
            <a:endParaRPr lang="en-US" sz="1200" dirty="0"/>
          </a:p>
        </p:txBody>
      </p:sp>
      <p:sp>
        <p:nvSpPr>
          <p:cNvPr id="20" name="o106"/>
          <p:cNvSpPr txBox="1"/>
          <p:nvPr/>
        </p:nvSpPr>
        <p:spPr>
          <a:xfrm>
            <a:off x="5166360" y="352044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RAW TMR VOTE</a:t>
            </a:r>
            <a:endParaRPr lang="en-US" sz="1100" dirty="0"/>
          </a:p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o107"/>
          <p:cNvSpPr txBox="1"/>
          <p:nvPr/>
        </p:nvSpPr>
        <p:spPr>
          <a:xfrm>
            <a:off x="6858000" y="352044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PROTECTED</a:t>
            </a:r>
            <a:endParaRPr lang="en-US" sz="1100" dirty="0"/>
          </a:p>
          <a:p>
            <a:pPr marL="0" indent="0" algn="ctr">
              <a:buNone/>
            </a:pPr>
            <a:r>
              <a:rPr lang="en-US" sz="2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LATCH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state flow: heartbeat to reset</a:t>
            </a:r>
            <a:endParaRPr lang="en-US" sz="2600" dirty="0"/>
          </a:p>
        </p:txBody>
      </p:sp>
      <p:sp>
        <p:nvSpPr>
          <p:cNvPr id="5" name="o108"/>
          <p:cNvSpPr txBox="1"/>
          <p:nvPr/>
        </p:nvSpPr>
        <p:spPr>
          <a:xfrm>
            <a:off x="457200" y="173736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6" name="o109"/>
          <p:cNvSpPr txBox="1"/>
          <p:nvPr/>
        </p:nvSpPr>
        <p:spPr>
          <a:xfrm>
            <a:off x="548640" y="18470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HEARTBEAT</a:t>
            </a:r>
            <a:endParaRPr lang="en-US" sz="1100" dirty="0"/>
          </a:p>
        </p:txBody>
      </p:sp>
      <p:pic>
        <p:nvPicPr>
          <p:cNvPr id="7" name="o1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240280"/>
            <a:ext cx="731520" cy="731520"/>
          </a:xfrm>
          <a:prstGeom prst="rect">
            <a:avLst/>
          </a:prstGeom>
        </p:spPr>
      </p:pic>
      <p:sp>
        <p:nvSpPr>
          <p:cNvPr id="8" name="o111"/>
          <p:cNvSpPr txBox="1"/>
          <p:nvPr/>
        </p:nvSpPr>
        <p:spPr>
          <a:xfrm>
            <a:off x="548640" y="310896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Heartbeat changes keep the counter at 0.</a:t>
            </a:r>
            <a:endParaRPr lang="en-US" sz="1200" dirty="0"/>
          </a:p>
        </p:txBody>
      </p:sp>
      <p:sp>
        <p:nvSpPr>
          <p:cNvPr id="9" name="o112"/>
          <p:cNvSpPr/>
          <p:nvPr/>
        </p:nvSpPr>
        <p:spPr>
          <a:xfrm>
            <a:off x="1956816" y="3063240"/>
            <a:ext cx="16916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o113"/>
          <p:cNvSpPr txBox="1"/>
          <p:nvPr/>
        </p:nvSpPr>
        <p:spPr>
          <a:xfrm>
            <a:off x="2144268" y="173736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11" name="o114"/>
          <p:cNvSpPr txBox="1"/>
          <p:nvPr/>
        </p:nvSpPr>
        <p:spPr>
          <a:xfrm>
            <a:off x="2235708" y="18470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COUNTER</a:t>
            </a:r>
            <a:endParaRPr lang="en-US" sz="1100" dirty="0"/>
          </a:p>
        </p:txBody>
      </p:sp>
      <p:pic>
        <p:nvPicPr>
          <p:cNvPr id="12" name="o1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172" y="2240280"/>
            <a:ext cx="731520" cy="731520"/>
          </a:xfrm>
          <a:prstGeom prst="rect">
            <a:avLst/>
          </a:prstGeom>
        </p:spPr>
      </p:pic>
      <p:sp>
        <p:nvSpPr>
          <p:cNvPr id="13" name="o116"/>
          <p:cNvSpPr txBox="1"/>
          <p:nvPr/>
        </p:nvSpPr>
        <p:spPr>
          <a:xfrm>
            <a:off x="2235708" y="310896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Elapsed counts clock cycles since the last heartbeat change.</a:t>
            </a:r>
            <a:endParaRPr lang="en-US" sz="1200" dirty="0"/>
          </a:p>
        </p:txBody>
      </p:sp>
      <p:sp>
        <p:nvSpPr>
          <p:cNvPr id="14" name="o117"/>
          <p:cNvSpPr/>
          <p:nvPr/>
        </p:nvSpPr>
        <p:spPr>
          <a:xfrm>
            <a:off x="3643884" y="3063240"/>
            <a:ext cx="16916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o118"/>
          <p:cNvSpPr txBox="1"/>
          <p:nvPr/>
        </p:nvSpPr>
        <p:spPr>
          <a:xfrm>
            <a:off x="3831336" y="173736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16" name="o119"/>
          <p:cNvSpPr txBox="1"/>
          <p:nvPr/>
        </p:nvSpPr>
        <p:spPr>
          <a:xfrm>
            <a:off x="3922776" y="18470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TIMEOUT</a:t>
            </a:r>
            <a:endParaRPr lang="en-US" sz="1100" dirty="0"/>
          </a:p>
        </p:txBody>
      </p:sp>
      <p:pic>
        <p:nvPicPr>
          <p:cNvPr id="17" name="o1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240280"/>
            <a:ext cx="731520" cy="731520"/>
          </a:xfrm>
          <a:prstGeom prst="rect">
            <a:avLst/>
          </a:prstGeom>
        </p:spPr>
      </p:pic>
      <p:sp>
        <p:nvSpPr>
          <p:cNvPr id="18" name="o121"/>
          <p:cNvSpPr txBox="1"/>
          <p:nvPr/>
        </p:nvSpPr>
        <p:spPr>
          <a:xfrm>
            <a:off x="3922776" y="310896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Elapsed reaches 64 and sets timeout_latched = 1.</a:t>
            </a:r>
            <a:endParaRPr lang="en-US" sz="1200" dirty="0"/>
          </a:p>
        </p:txBody>
      </p:sp>
      <p:sp>
        <p:nvSpPr>
          <p:cNvPr id="19" name="o122"/>
          <p:cNvSpPr/>
          <p:nvPr/>
        </p:nvSpPr>
        <p:spPr>
          <a:xfrm>
            <a:off x="5330952" y="3063240"/>
            <a:ext cx="16916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o123"/>
          <p:cNvSpPr txBox="1"/>
          <p:nvPr/>
        </p:nvSpPr>
        <p:spPr>
          <a:xfrm>
            <a:off x="5518404" y="173736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2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21" name="o124"/>
          <p:cNvSpPr txBox="1"/>
          <p:nvPr/>
        </p:nvSpPr>
        <p:spPr>
          <a:xfrm>
            <a:off x="5609844" y="18470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SAFE MODE</a:t>
            </a:r>
            <a:endParaRPr lang="en-US" sz="1100" dirty="0"/>
          </a:p>
        </p:txBody>
      </p:sp>
      <p:pic>
        <p:nvPicPr>
          <p:cNvPr id="22" name="o12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2240280"/>
            <a:ext cx="731520" cy="731520"/>
          </a:xfrm>
          <a:prstGeom prst="rect">
            <a:avLst/>
          </a:prstGeom>
        </p:spPr>
      </p:pic>
      <p:sp>
        <p:nvSpPr>
          <p:cNvPr id="23" name="o126"/>
          <p:cNvSpPr txBox="1"/>
          <p:nvPr/>
        </p:nvSpPr>
        <p:spPr>
          <a:xfrm>
            <a:off x="5609844" y="310896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Protected output is held at 0; SPI stays available.</a:t>
            </a:r>
            <a:endParaRPr lang="en-US" sz="1200" dirty="0"/>
          </a:p>
        </p:txBody>
      </p:sp>
      <p:sp>
        <p:nvSpPr>
          <p:cNvPr id="24" name="o127"/>
          <p:cNvSpPr/>
          <p:nvPr/>
        </p:nvSpPr>
        <p:spPr>
          <a:xfrm>
            <a:off x="7018020" y="3063240"/>
            <a:ext cx="16916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o128"/>
          <p:cNvSpPr txBox="1"/>
          <p:nvPr/>
        </p:nvSpPr>
        <p:spPr>
          <a:xfrm>
            <a:off x="7205472" y="1737360"/>
            <a:ext cx="1481328" cy="2377440"/>
          </a:xfrm>
          <a:prstGeom prst="roundRect">
            <a:avLst>
              <a:gd name="adj" fmla="val 6173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26" name="o129"/>
          <p:cNvSpPr txBox="1"/>
          <p:nvPr/>
        </p:nvSpPr>
        <p:spPr>
          <a:xfrm>
            <a:off x="7296912" y="18470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RESET</a:t>
            </a:r>
            <a:endParaRPr lang="en-US" sz="1100" dirty="0"/>
          </a:p>
        </p:txBody>
      </p:sp>
      <p:pic>
        <p:nvPicPr>
          <p:cNvPr id="27" name="o13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376" y="2240280"/>
            <a:ext cx="731520" cy="731520"/>
          </a:xfrm>
          <a:prstGeom prst="rect">
            <a:avLst/>
          </a:prstGeom>
        </p:spPr>
      </p:pic>
      <p:sp>
        <p:nvSpPr>
          <p:cNvPr id="28" name="o131"/>
          <p:cNvSpPr txBox="1"/>
          <p:nvPr/>
        </p:nvSpPr>
        <p:spPr>
          <a:xfrm>
            <a:off x="7296912" y="310896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Controlled reset clears the timer and safety latches.</a:t>
            </a:r>
            <a:endParaRPr lang="en-US" sz="1200" dirty="0"/>
          </a:p>
        </p:txBody>
      </p:sp>
      <p:sp>
        <p:nvSpPr>
          <p:cNvPr id="29" name="o132"/>
          <p:cNvSpPr/>
          <p:nvPr/>
        </p:nvSpPr>
        <p:spPr>
          <a:xfrm>
            <a:off x="457200" y="44165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o133"/>
          <p:cNvSpPr txBox="1"/>
          <p:nvPr/>
        </p:nvSpPr>
        <p:spPr>
          <a:xfrm>
            <a:off x="658368" y="4361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Healthy</a:t>
            </a:r>
            <a:endParaRPr lang="en-US" sz="1100" dirty="0"/>
          </a:p>
        </p:txBody>
      </p:sp>
      <p:sp>
        <p:nvSpPr>
          <p:cNvPr id="31" name="o134"/>
          <p:cNvSpPr/>
          <p:nvPr/>
        </p:nvSpPr>
        <p:spPr>
          <a:xfrm>
            <a:off x="2011680" y="441655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o135"/>
          <p:cNvSpPr txBox="1"/>
          <p:nvPr/>
        </p:nvSpPr>
        <p:spPr>
          <a:xfrm>
            <a:off x="2212848" y="4361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Fault</a:t>
            </a:r>
            <a:endParaRPr lang="en-US" sz="1100" dirty="0"/>
          </a:p>
        </p:txBody>
      </p:sp>
      <p:sp>
        <p:nvSpPr>
          <p:cNvPr id="33" name="o136"/>
          <p:cNvSpPr/>
          <p:nvPr/>
        </p:nvSpPr>
        <p:spPr>
          <a:xfrm>
            <a:off x="3566160" y="4416552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o137"/>
          <p:cNvSpPr txBox="1"/>
          <p:nvPr/>
        </p:nvSpPr>
        <p:spPr>
          <a:xfrm>
            <a:off x="3767328" y="4361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Latched</a:t>
            </a:r>
            <a:endParaRPr lang="en-US" sz="1100" dirty="0"/>
          </a:p>
        </p:txBody>
      </p:sp>
      <p:sp>
        <p:nvSpPr>
          <p:cNvPr id="35" name="o138"/>
          <p:cNvSpPr/>
          <p:nvPr/>
        </p:nvSpPr>
        <p:spPr>
          <a:xfrm>
            <a:off x="5120640" y="4416552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o139"/>
          <p:cNvSpPr txBox="1"/>
          <p:nvPr/>
        </p:nvSpPr>
        <p:spPr>
          <a:xfrm>
            <a:off x="5321808" y="4361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Recovered</a:t>
            </a:r>
            <a:endParaRPr lang="en-US" sz="1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reset clears the latch and restores normal operation</a:t>
            </a:r>
            <a:endParaRPr lang="en-US" sz="2600" dirty="0"/>
          </a:p>
        </p:txBody>
      </p:sp>
      <p:sp>
        <p:nvSpPr>
          <p:cNvPr id="5" name="o140"/>
          <p:cNvSpPr txBox="1"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o141"/>
          <p:cNvSpPr txBox="1"/>
          <p:nvPr/>
        </p:nvSpPr>
        <p:spPr>
          <a:xfrm>
            <a:off x="960120" y="1673352"/>
            <a:ext cx="367588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Click </a:t>
            </a:r>
            <a:r>
              <a:rPr lang="en-US" sz="1400" b="1" dirty="0">
                <a:solidFill>
                  <a:schemeClr val="accent1"/>
                </a:solidFill>
              </a:rPr>
              <a:t>Resume heartbeat</a:t>
            </a:r>
            <a:r>
              <a:rPr lang="en-US" sz="1400" dirty="0">
                <a:solidFill>
                  <a:schemeClr val="tx1"/>
                </a:solidFill>
              </a:rPr>
              <a:t> to restart heartbeat changes.</a:t>
            </a:r>
            <a:endParaRPr lang="en-US" sz="1400" dirty="0"/>
          </a:p>
        </p:txBody>
      </p:sp>
      <p:sp>
        <p:nvSpPr>
          <p:cNvPr id="7" name="o142"/>
          <p:cNvSpPr txBox="1"/>
          <p:nvPr/>
        </p:nvSpPr>
        <p:spPr>
          <a:xfrm>
            <a:off x="457200" y="2308352"/>
            <a:ext cx="365760" cy="36576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o143"/>
          <p:cNvSpPr txBox="1"/>
          <p:nvPr/>
        </p:nvSpPr>
        <p:spPr>
          <a:xfrm>
            <a:off x="960120" y="2290064"/>
            <a:ext cx="367588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Safe mode remains active because the timeout is latched.</a:t>
            </a:r>
            <a:endParaRPr lang="en-US" sz="1400" dirty="0"/>
          </a:p>
        </p:txBody>
      </p:sp>
      <p:sp>
        <p:nvSpPr>
          <p:cNvPr id="9" name="o144"/>
          <p:cNvSpPr txBox="1"/>
          <p:nvPr/>
        </p:nvSpPr>
        <p:spPr>
          <a:xfrm>
            <a:off x="457200" y="2925064"/>
            <a:ext cx="365760" cy="36576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o145"/>
          <p:cNvSpPr txBox="1"/>
          <p:nvPr/>
        </p:nvSpPr>
        <p:spPr>
          <a:xfrm>
            <a:off x="960120" y="2906776"/>
            <a:ext cx="367588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Click </a:t>
            </a:r>
            <a:r>
              <a:rPr lang="en-US" sz="1400" b="1" dirty="0">
                <a:solidFill>
                  <a:schemeClr val="accent4"/>
                </a:solidFill>
              </a:rPr>
              <a:t>Controlled reset</a:t>
            </a:r>
            <a:r>
              <a:rPr lang="en-US" sz="1400" dirty="0">
                <a:solidFill>
                  <a:schemeClr val="tx1"/>
                </a:solidFill>
              </a:rPr>
              <a:t> to clear the timer and safety latches.</a:t>
            </a:r>
            <a:endParaRPr lang="en-US" sz="1400" dirty="0"/>
          </a:p>
        </p:txBody>
      </p:sp>
      <p:sp>
        <p:nvSpPr>
          <p:cNvPr id="11" name="o146"/>
          <p:cNvSpPr txBox="1"/>
          <p:nvPr/>
        </p:nvSpPr>
        <p:spPr>
          <a:xfrm>
            <a:off x="457200" y="3541776"/>
            <a:ext cx="365760" cy="36576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o147"/>
          <p:cNvSpPr txBox="1"/>
          <p:nvPr/>
        </p:nvSpPr>
        <p:spPr>
          <a:xfrm>
            <a:off x="960120" y="3523488"/>
            <a:ext cx="367588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demo restores healthy paths and enables heartbeat.</a:t>
            </a:r>
            <a:endParaRPr lang="en-US" sz="1400" dirty="0"/>
          </a:p>
        </p:txBody>
      </p:sp>
      <p:sp>
        <p:nvSpPr>
          <p:cNvPr id="13" name="o148"/>
          <p:cNvSpPr txBox="1"/>
          <p:nvPr/>
        </p:nvSpPr>
        <p:spPr>
          <a:xfrm>
            <a:off x="457200" y="4158488"/>
            <a:ext cx="365760" cy="36576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o149"/>
          <p:cNvSpPr txBox="1"/>
          <p:nvPr/>
        </p:nvSpPr>
        <p:spPr>
          <a:xfrm>
            <a:off x="960120" y="4140200"/>
            <a:ext cx="3675888" cy="48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Normal operation returns with protected output </a:t>
            </a:r>
            <a:r>
              <a:rPr lang="en-US" sz="1400" b="1" dirty="0">
                <a:solidFill>
                  <a:schemeClr val="accent4"/>
                </a:solidFill>
              </a:rPr>
              <a:t>10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5" name="o150"/>
          <p:cNvSpPr txBox="1"/>
          <p:nvPr/>
        </p:nvSpPr>
        <p:spPr>
          <a:xfrm>
            <a:off x="4937760" y="1691640"/>
            <a:ext cx="3749040" cy="1783080"/>
          </a:xfrm>
          <a:prstGeom prst="roundRect">
            <a:avLst>
              <a:gd name="adj" fmla="val 5128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16" name="o151"/>
          <p:cNvSpPr txBox="1"/>
          <p:nvPr/>
        </p:nvSpPr>
        <p:spPr>
          <a:xfrm>
            <a:off x="5166360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PROTECTED OUTPUT</a:t>
            </a:r>
            <a:endParaRPr lang="en-US" sz="1100" dirty="0"/>
          </a:p>
        </p:txBody>
      </p:sp>
      <p:sp>
        <p:nvSpPr>
          <p:cNvPr id="17" name="o152"/>
          <p:cNvSpPr txBox="1"/>
          <p:nvPr/>
        </p:nvSpPr>
        <p:spPr>
          <a:xfrm>
            <a:off x="516636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18" name="o153"/>
          <p:cNvSpPr txBox="1"/>
          <p:nvPr/>
        </p:nvSpPr>
        <p:spPr>
          <a:xfrm>
            <a:off x="6720840" y="21031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Safe mode  OFF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Heartbeat  ON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Paths A · B · C  healthy</a:t>
            </a:r>
            <a:endParaRPr lang="en-US" sz="1300" dirty="0"/>
          </a:p>
        </p:txBody>
      </p:sp>
      <p:sp>
        <p:nvSpPr>
          <p:cNvPr id="19" name="o154"/>
          <p:cNvSpPr txBox="1"/>
          <p:nvPr/>
        </p:nvSpPr>
        <p:spPr>
          <a:xfrm>
            <a:off x="5166360" y="3108960"/>
            <a:ext cx="3291840" cy="256032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Normal operation</a:t>
            </a:r>
            <a:endParaRPr lang="en-US" sz="1200" dirty="0"/>
          </a:p>
        </p:txBody>
      </p:sp>
      <p:sp>
        <p:nvSpPr>
          <p:cNvPr id="20" name="o155"/>
          <p:cNvSpPr txBox="1"/>
          <p:nvPr/>
        </p:nvSpPr>
        <p:spPr>
          <a:xfrm>
            <a:off x="4937760" y="3657600"/>
            <a:ext cx="3749040" cy="960120"/>
          </a:xfrm>
          <a:prstGeom prst="roundRect">
            <a:avLst>
              <a:gd name="adj" fmla="val 9524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Reset restores the demo’s healthy conditions. It does not repair corrupted memory.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majority needs an independent integrity check</a:t>
            </a:r>
            <a:endParaRPr lang="en-US" sz="2600" dirty="0"/>
          </a:p>
        </p:txBody>
      </p:sp>
      <p:sp>
        <p:nvSpPr>
          <p:cNvPr id="5" name="o156"/>
          <p:cNvSpPr txBox="1"/>
          <p:nvPr/>
        </p:nvSpPr>
        <p:spPr>
          <a:xfrm>
            <a:off x="457200" y="1691640"/>
            <a:ext cx="1783080" cy="822960"/>
          </a:xfrm>
          <a:prstGeom prst="roundRect">
            <a:avLst>
              <a:gd name="adj" fmla="val 11111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PATH A  ·  2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r>
              <a:rPr lang="en-US" sz="1700" b="1" kern="0" spc="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7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</a:t>
            </a:r>
            <a:endParaRPr lang="en-US" sz="1100" dirty="0"/>
          </a:p>
        </p:txBody>
      </p:sp>
      <p:sp>
        <p:nvSpPr>
          <p:cNvPr id="6" name="o157"/>
          <p:cNvSpPr txBox="1"/>
          <p:nvPr/>
        </p:nvSpPr>
        <p:spPr>
          <a:xfrm>
            <a:off x="2377440" y="1691640"/>
            <a:ext cx="1783080" cy="822960"/>
          </a:xfrm>
          <a:prstGeom prst="roundRect">
            <a:avLst>
              <a:gd name="adj" fmla="val 11111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PATH B  ·  2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r>
              <a:rPr lang="en-US" sz="1700" b="1" kern="0" spc="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7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</a:t>
            </a:r>
            <a:endParaRPr lang="en-US" sz="1100" dirty="0"/>
          </a:p>
        </p:txBody>
      </p:sp>
      <p:sp>
        <p:nvSpPr>
          <p:cNvPr id="7" name="o158"/>
          <p:cNvSpPr txBox="1"/>
          <p:nvPr/>
        </p:nvSpPr>
        <p:spPr>
          <a:xfrm>
            <a:off x="4297680" y="1691640"/>
            <a:ext cx="1783080" cy="822960"/>
          </a:xfrm>
          <a:prstGeom prst="roundRect">
            <a:avLst>
              <a:gd name="adj" fmla="val 11111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PATH C  ·  10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100" dirty="0"/>
          </a:p>
        </p:txBody>
      </p:sp>
      <p:sp>
        <p:nvSpPr>
          <p:cNvPr id="8" name="o159"/>
          <p:cNvSpPr/>
          <p:nvPr/>
        </p:nvSpPr>
        <p:spPr>
          <a:xfrm>
            <a:off x="6080760" y="2103120"/>
            <a:ext cx="320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o160"/>
          <p:cNvSpPr txBox="1"/>
          <p:nvPr/>
        </p:nvSpPr>
        <p:spPr>
          <a:xfrm>
            <a:off x="6400800" y="1691640"/>
            <a:ext cx="2286000" cy="822960"/>
          </a:xfrm>
          <a:prstGeom prst="roundRect">
            <a:avLst>
              <a:gd name="adj" fmla="val 11111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3"/>
                </a:solidFill>
              </a:rPr>
              <a:t>VOTED OUTPUT  ·  WRONG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kern="0" spc="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00000010</a:t>
            </a:r>
            <a:r>
              <a:rPr lang="en-US" sz="1300" dirty="0">
                <a:solidFill>
                  <a:schemeClr val="tx2"/>
                </a:solidFill>
              </a:rPr>
              <a:t>  (2)</a:t>
            </a:r>
            <a:endParaRPr lang="en-US" sz="1100" dirty="0"/>
          </a:p>
        </p:txBody>
      </p:sp>
      <p:sp>
        <p:nvSpPr>
          <p:cNvPr id="10" name="o161"/>
          <p:cNvSpPr txBox="1"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Two paths contain the same wrong bit, so the vote follows A and B.</a:t>
            </a:r>
            <a:endParaRPr lang="en-US" sz="1200" dirty="0"/>
          </a:p>
        </p:txBody>
      </p:sp>
      <p:sp>
        <p:nvSpPr>
          <p:cNvPr id="11" name="o162"/>
          <p:cNvSpPr txBox="1"/>
          <p:nvPr/>
        </p:nvSpPr>
        <p:spPr>
          <a:xfrm>
            <a:off x="457200" y="283464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2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TMR reports disagreement but </a:t>
            </a:r>
            <a:r>
              <a:rPr lang="en-US" sz="1300" b="1" dirty="0">
                <a:solidFill>
                  <a:schemeClr val="accent2"/>
                </a:solidFill>
              </a:rPr>
              <a:t>cannot identify the correct answer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12" name="o163"/>
          <p:cNvSpPr txBox="1"/>
          <p:nvPr/>
        </p:nvSpPr>
        <p:spPr>
          <a:xfrm>
            <a:off x="3291840" y="283464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1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Level 3 detects this one-bit output error using an independently trusted </a:t>
            </a:r>
            <a:r>
              <a:rPr lang="en-US" sz="1300" b="1" dirty="0">
                <a:solidFill>
                  <a:schemeClr val="accent1"/>
                </a:solidFill>
              </a:rPr>
              <a:t>parity reference</a:t>
            </a:r>
            <a:r>
              <a:rPr lang="en-US" sz="1300" dirty="0">
                <a:solidFill>
                  <a:schemeClr val="tx1"/>
                </a:solidFill>
              </a:rPr>
              <a:t> and activates safe mode.</a:t>
            </a:r>
            <a:endParaRPr lang="en-US" sz="1200" dirty="0"/>
          </a:p>
        </p:txBody>
      </p:sp>
      <p:sp>
        <p:nvSpPr>
          <p:cNvPr id="13" name="o164"/>
          <p:cNvSpPr txBox="1"/>
          <p:nvPr/>
        </p:nvSpPr>
        <p:spPr>
          <a:xfrm>
            <a:off x="6126480" y="283464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>
              <a:alpha val="92000"/>
            </a:schemeClr>
          </a:solidFill>
          <a:ln w="12700">
            <a:solidFill>
              <a:schemeClr val="accent5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An external </a:t>
            </a:r>
            <a:r>
              <a:rPr lang="en-US" sz="1300" b="1" dirty="0">
                <a:solidFill>
                  <a:schemeClr val="accent5"/>
                </a:solidFill>
              </a:rPr>
              <a:t>integrity alarm</a:t>
            </a:r>
            <a:r>
              <a:rPr lang="en-US" sz="1300" dirty="0">
                <a:solidFill>
                  <a:schemeClr val="tx1"/>
                </a:solidFill>
              </a:rPr>
              <a:t> can also activate safe mode.</a:t>
            </a:r>
            <a:endParaRPr lang="en-US" sz="1200" dirty="0"/>
          </a:p>
        </p:txBody>
      </p:sp>
      <p:sp>
        <p:nvSpPr>
          <p:cNvPr id="14" name="o165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Parity can miss even-bit errors. </a:t>
            </a:r>
            <a:r>
              <a:rPr lang="en-US" sz="1300" dirty="0">
                <a:solidFill>
                  <a:schemeClr val="tx2"/>
                </a:solidFill>
              </a:rPr>
              <a:t>Controlled reset clears the safety latch.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852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protection layer can and cannot detect</a:t>
            </a:r>
            <a:endParaRPr lang="en-US" sz="2600" dirty="0"/>
          </a:p>
        </p:txBody>
      </p:sp>
      <p:graphicFrame>
        <p:nvGraphicFramePr>
          <p:cNvPr id="12" name="o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2633472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200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PROTECTION 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DETECT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DETECT OR FIX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TMR voter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Disagreement between paths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Two paths agreeing on the same wrong value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Watchdog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Heartbeat stops; counter reaches 64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Problems that occur while the heartbeat keeps running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Parity integrity check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One-bit output error from an independent reference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Even-bit errors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Safety latch and reset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Holds safe mode until controlled reset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Does not repair corrupted memory or path 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o16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Reset restores the demo state but does not repair corrupted memory.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429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smtClean="0"/>
              <a:t>PRESENTED BY: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997727"/>
            <a:ext cx="4437934" cy="191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 smtClean="0"/>
              <a:t>RUMAISA WASEEM </a:t>
            </a:r>
            <a:br>
              <a:rPr lang="en-US" sz="2600" dirty="0" smtClean="0"/>
            </a:br>
            <a:r>
              <a:rPr lang="en-US" dirty="0" smtClean="0"/>
              <a:t>MAHNOOR NAEEM</a:t>
            </a:r>
            <a:br>
              <a:rPr lang="en-US" dirty="0" smtClean="0"/>
            </a:br>
            <a:r>
              <a:rPr lang="en-US" dirty="0" smtClean="0"/>
              <a:t>YASHFEEN RAZA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363" y="429768"/>
            <a:ext cx="2865437" cy="286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744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rei3 Space">
  <a:themeElements>
    <a:clrScheme name="Corei3 Space">
      <a:dk1>
        <a:srgbClr val="F1F5F9"/>
      </a:dk1>
      <a:lt1>
        <a:srgbClr val="0A1128"/>
      </a:lt1>
      <a:dk2>
        <a:srgbClr val="94A3B8"/>
      </a:dk2>
      <a:lt2>
        <a:srgbClr val="111E40"/>
      </a:lt2>
      <a:accent1>
        <a:srgbClr val="22D3EE"/>
      </a:accent1>
      <a:accent2>
        <a:srgbClr val="F5A524"/>
      </a:accent2>
      <a:accent3>
        <a:srgbClr val="FF5468"/>
      </a:accent3>
      <a:accent4>
        <a:srgbClr val="34D399"/>
      </a:accent4>
      <a:accent5>
        <a:srgbClr val="8B9CFF"/>
      </a:accent5>
      <a:accent6>
        <a:srgbClr val="2F5BA8"/>
      </a:accent6>
      <a:hlink>
        <a:srgbClr val="22D3EE"/>
      </a:hlink>
      <a:folHlink>
        <a:srgbClr val="8B9CFF"/>
      </a:folHlink>
    </a:clrScheme>
    <a:fontScheme name="Corei3 Spa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1244</Words>
  <Application>Microsoft Office PowerPoint</Application>
  <PresentationFormat>On-screen Show 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Corei3 Space</vt:lpstr>
      <vt:lpstr>PowerPoint Presentation</vt:lpstr>
      <vt:lpstr>Three paths feed a voter, a watchdog, and a safety latch</vt:lpstr>
      <vt:lpstr>Healthy starting state</vt:lpstr>
      <vt:lpstr>TMR fault injection is detected and masked</vt:lpstr>
      <vt:lpstr>Masking keeps output safe, but does not repair path A</vt:lpstr>
      <vt:lpstr>The watchdog times out when heartbeat stops</vt:lpstr>
      <vt:lpstr>Safe mode protects the output while SPI stays available</vt:lpstr>
      <vt:lpstr>Watchdog state flow: heartbeat to reset</vt:lpstr>
      <vt:lpstr>Controlled reset clears the latch and restores normal operation</vt:lpstr>
      <vt:lpstr>Wrong majority needs an independent integrity check</vt:lpstr>
      <vt:lpstr>What each protection layer can and cannot detect</vt:lpstr>
      <vt:lpstr>RUMAISA WASEEM  MAHNOOR NAEEM YASHFEEN RAZA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Corei3: Fault Injection, Detection and Recovery</dc:title>
  <dc:subject>PptxGenJS Presentation</dc:subject>
  <dc:creator>Corei3</dc:creator>
  <cp:lastModifiedBy>Microsoft account</cp:lastModifiedBy>
  <cp:revision>2</cp:revision>
  <dcterms:created xsi:type="dcterms:W3CDTF">2026-10-26T19:17:35Z</dcterms:created>
  <dcterms:modified xsi:type="dcterms:W3CDTF">2026-10-26T19:47:51Z</dcterms:modified>
</cp:coreProperties>
</file>